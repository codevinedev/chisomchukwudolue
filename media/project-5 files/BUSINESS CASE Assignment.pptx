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46525E-7272-48CF-B7EC-30AB24967FAD}" type="datetimeFigureOut">
              <a:rPr lang="en-US" smtClean="0"/>
              <a:t>2/19/2026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2118315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46525E-7272-48CF-B7EC-30AB24967FAD}"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1333943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46525E-7272-48CF-B7EC-30AB24967FAD}"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1832150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46525E-7272-48CF-B7EC-30AB24967FAD}"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2679800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46525E-7272-48CF-B7EC-30AB24967FAD}" type="datetimeFigureOut">
              <a:rPr lang="en-US" smtClean="0"/>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3407614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46525E-7272-48CF-B7EC-30AB24967FAD}" type="datetimeFigureOut">
              <a:rPr lang="en-US" smtClean="0"/>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1062057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46525E-7272-48CF-B7EC-30AB24967FAD}" type="datetimeFigureOut">
              <a:rPr lang="en-US" smtClean="0"/>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497560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46525E-7272-48CF-B7EC-30AB24967FAD}"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2057284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46525E-7272-48CF-B7EC-30AB24967FAD}"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3866652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46525E-7272-48CF-B7EC-30AB24967FAD}"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1464065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46525E-7272-48CF-B7EC-30AB24967FAD}"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176703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46525E-7272-48CF-B7EC-30AB24967FAD}"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335979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46525E-7272-48CF-B7EC-30AB24967FAD}"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2690457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46525E-7272-48CF-B7EC-30AB24967FAD}"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15861499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46525E-7272-48CF-B7EC-30AB24967FAD}"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2318262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46525E-7272-48CF-B7EC-30AB24967FAD}"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13293480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46525E-7272-48CF-B7EC-30AB24967FAD}"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80C4B6-508B-4EBD-8E31-35C339AAA895}" type="slidenum">
              <a:rPr lang="en-US" smtClean="0"/>
              <a:t>‹#›</a:t>
            </a:fld>
            <a:endParaRPr lang="en-US"/>
          </a:p>
        </p:txBody>
      </p:sp>
    </p:spTree>
    <p:extLst>
      <p:ext uri="{BB962C8B-B14F-4D97-AF65-F5344CB8AC3E}">
        <p14:creationId xmlns:p14="http://schemas.microsoft.com/office/powerpoint/2010/main" val="1351738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D46525E-7272-48CF-B7EC-30AB24967FAD}" type="datetimeFigureOut">
              <a:rPr lang="en-US" smtClean="0"/>
              <a:t>2/19/2026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380C4B6-508B-4EBD-8E31-35C339AAA895}" type="slidenum">
              <a:rPr lang="en-US" smtClean="0"/>
              <a:t>‹#›</a:t>
            </a:fld>
            <a:endParaRPr lang="en-US"/>
          </a:p>
        </p:txBody>
      </p:sp>
    </p:spTree>
    <p:extLst>
      <p:ext uri="{BB962C8B-B14F-4D97-AF65-F5344CB8AC3E}">
        <p14:creationId xmlns:p14="http://schemas.microsoft.com/office/powerpoint/2010/main" val="216647235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325AC-AED7-E7BD-CC45-733A45402B49}"/>
              </a:ext>
            </a:extLst>
          </p:cNvPr>
          <p:cNvSpPr>
            <a:spLocks noGrp="1"/>
          </p:cNvSpPr>
          <p:nvPr>
            <p:ph type="ctrTitle"/>
          </p:nvPr>
        </p:nvSpPr>
        <p:spPr>
          <a:xfrm>
            <a:off x="1419069" y="772645"/>
            <a:ext cx="9144000" cy="1306044"/>
          </a:xfrm>
        </p:spPr>
        <p:txBody>
          <a:bodyPr>
            <a:normAutofit/>
          </a:bodyPr>
          <a:lstStyle/>
          <a:p>
            <a:pPr algn="ctr"/>
            <a:r>
              <a:rPr lang="en-US" sz="5400" dirty="0">
                <a:latin typeface="Segoe UI Semibold" panose="020B0702040204020203" pitchFamily="34" charset="0"/>
                <a:cs typeface="Segoe UI Semibold" panose="020B0702040204020203" pitchFamily="34" charset="0"/>
              </a:rPr>
              <a:t>BUSINESS CASE</a:t>
            </a:r>
          </a:p>
        </p:txBody>
      </p:sp>
      <p:sp>
        <p:nvSpPr>
          <p:cNvPr id="3" name="Subtitle 2">
            <a:extLst>
              <a:ext uri="{FF2B5EF4-FFF2-40B4-BE49-F238E27FC236}">
                <a16:creationId xmlns:a16="http://schemas.microsoft.com/office/drawing/2014/main" id="{8C56A49D-5157-54F2-09A7-EAE0DE98E0E3}"/>
              </a:ext>
            </a:extLst>
          </p:cNvPr>
          <p:cNvSpPr>
            <a:spLocks noGrp="1"/>
          </p:cNvSpPr>
          <p:nvPr>
            <p:ph type="subTitle" idx="1"/>
          </p:nvPr>
        </p:nvSpPr>
        <p:spPr>
          <a:xfrm>
            <a:off x="3575424" y="4475952"/>
            <a:ext cx="6987645" cy="1388534"/>
          </a:xfrm>
        </p:spPr>
        <p:txBody>
          <a:bodyPr>
            <a:normAutofit/>
          </a:bodyPr>
          <a:lstStyle/>
          <a:p>
            <a:pPr algn="ctr"/>
            <a:r>
              <a:rPr lang="en-US" sz="3000" dirty="0">
                <a:latin typeface="Segoe UI Semibold" panose="020B0702040204020203" pitchFamily="34" charset="0"/>
                <a:cs typeface="Segoe UI Semibold" panose="020B0702040204020203" pitchFamily="34" charset="0"/>
              </a:rPr>
              <a:t>PRESENTED BY:</a:t>
            </a:r>
          </a:p>
          <a:p>
            <a:pPr algn="ctr"/>
            <a:r>
              <a:rPr lang="en-US" sz="3000" dirty="0">
                <a:latin typeface="Segoe UI Semibold" panose="020B0702040204020203" pitchFamily="34" charset="0"/>
                <a:cs typeface="Segoe UI Semibold" panose="020B0702040204020203" pitchFamily="34" charset="0"/>
              </a:rPr>
              <a:t>CHUKWUDOLUE C. FAVOUR</a:t>
            </a:r>
          </a:p>
        </p:txBody>
      </p:sp>
    </p:spTree>
    <p:extLst>
      <p:ext uri="{BB962C8B-B14F-4D97-AF65-F5344CB8AC3E}">
        <p14:creationId xmlns:p14="http://schemas.microsoft.com/office/powerpoint/2010/main" val="1164529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F27F9-89EE-1B6A-950F-23EA841EAFE0}"/>
              </a:ext>
            </a:extLst>
          </p:cNvPr>
          <p:cNvSpPr>
            <a:spLocks noGrp="1"/>
          </p:cNvSpPr>
          <p:nvPr>
            <p:ph type="title"/>
          </p:nvPr>
        </p:nvSpPr>
        <p:spPr/>
        <p:txBody>
          <a:bodyPr>
            <a:normAutofit/>
          </a:bodyPr>
          <a:lstStyle/>
          <a:p>
            <a:r>
              <a:rPr lang="en-US" sz="5400" dirty="0">
                <a:latin typeface="Segoe UI Semibold" panose="020B0702040204020203" pitchFamily="34" charset="0"/>
                <a:cs typeface="Segoe UI Semibold" panose="020B0702040204020203" pitchFamily="34" charset="0"/>
              </a:rPr>
              <a:t>TABLE OF CONTENTS</a:t>
            </a:r>
          </a:p>
        </p:txBody>
      </p:sp>
      <p:sp>
        <p:nvSpPr>
          <p:cNvPr id="3" name="Content Placeholder 2">
            <a:extLst>
              <a:ext uri="{FF2B5EF4-FFF2-40B4-BE49-F238E27FC236}">
                <a16:creationId xmlns:a16="http://schemas.microsoft.com/office/drawing/2014/main" id="{3E335868-8301-9E15-61BE-BE5E414A273B}"/>
              </a:ext>
            </a:extLst>
          </p:cNvPr>
          <p:cNvSpPr>
            <a:spLocks noGrp="1"/>
          </p:cNvSpPr>
          <p:nvPr>
            <p:ph idx="1"/>
          </p:nvPr>
        </p:nvSpPr>
        <p:spPr>
          <a:xfrm>
            <a:off x="1484310" y="2438399"/>
            <a:ext cx="10018713" cy="3352801"/>
          </a:xfrm>
        </p:spPr>
        <p:txBody>
          <a:bodyPr>
            <a:normAutofit lnSpcReduction="10000"/>
          </a:bodyPr>
          <a:lstStyle/>
          <a:p>
            <a:r>
              <a:rPr lang="en-US" dirty="0">
                <a:latin typeface="Segoe UI Semibold" panose="020B0702040204020203" pitchFamily="34" charset="0"/>
                <a:cs typeface="Segoe UI Semibold" panose="020B0702040204020203" pitchFamily="34" charset="0"/>
              </a:rPr>
              <a:t>Introduction / Project Mandate</a:t>
            </a:r>
          </a:p>
          <a:p>
            <a:r>
              <a:rPr lang="en-US" dirty="0">
                <a:latin typeface="Segoe UI Semibold" panose="020B0702040204020203" pitchFamily="34" charset="0"/>
                <a:cs typeface="Segoe UI Semibold" panose="020B0702040204020203" pitchFamily="34" charset="0"/>
              </a:rPr>
              <a:t>Business Problem</a:t>
            </a:r>
          </a:p>
          <a:p>
            <a:r>
              <a:rPr lang="en-US" dirty="0">
                <a:latin typeface="Segoe UI Semibold" panose="020B0702040204020203" pitchFamily="34" charset="0"/>
                <a:cs typeface="Segoe UI Semibold" panose="020B0702040204020203" pitchFamily="34" charset="0"/>
              </a:rPr>
              <a:t>Proposed Solution</a:t>
            </a:r>
          </a:p>
          <a:p>
            <a:r>
              <a:rPr lang="en-US" dirty="0">
                <a:latin typeface="Segoe UI Semibold" panose="020B0702040204020203" pitchFamily="34" charset="0"/>
                <a:cs typeface="Segoe UI Semibold" panose="020B0702040204020203" pitchFamily="34" charset="0"/>
              </a:rPr>
              <a:t>Stakeholders</a:t>
            </a:r>
          </a:p>
          <a:p>
            <a:r>
              <a:rPr lang="en-US" dirty="0">
                <a:latin typeface="Segoe UI Semibold" panose="020B0702040204020203" pitchFamily="34" charset="0"/>
                <a:cs typeface="Segoe UI Semibold" panose="020B0702040204020203" pitchFamily="34" charset="0"/>
              </a:rPr>
              <a:t>Expected Benefits</a:t>
            </a:r>
          </a:p>
          <a:p>
            <a:r>
              <a:rPr lang="en-US" dirty="0">
                <a:latin typeface="Segoe UI Semibold" panose="020B0702040204020203" pitchFamily="34" charset="0"/>
                <a:cs typeface="Segoe UI Semibold" panose="020B0702040204020203" pitchFamily="34" charset="0"/>
              </a:rPr>
              <a:t>Timeline and Budgets</a:t>
            </a:r>
          </a:p>
          <a:p>
            <a:r>
              <a:rPr lang="en-US" dirty="0">
                <a:latin typeface="Segoe UI Semibold" panose="020B0702040204020203" pitchFamily="34" charset="0"/>
                <a:cs typeface="Segoe UI Semibold" panose="020B0702040204020203" pitchFamily="34" charset="0"/>
              </a:rPr>
              <a:t>Risk and Assumptions</a:t>
            </a:r>
          </a:p>
        </p:txBody>
      </p:sp>
    </p:spTree>
    <p:extLst>
      <p:ext uri="{BB962C8B-B14F-4D97-AF65-F5344CB8AC3E}">
        <p14:creationId xmlns:p14="http://schemas.microsoft.com/office/powerpoint/2010/main" val="993128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F7B03-DC90-E683-730C-48475FAB10ED}"/>
              </a:ext>
            </a:extLst>
          </p:cNvPr>
          <p:cNvSpPr>
            <a:spLocks noGrp="1"/>
          </p:cNvSpPr>
          <p:nvPr>
            <p:ph type="title"/>
          </p:nvPr>
        </p:nvSpPr>
        <p:spPr/>
        <p:txBody>
          <a:bodyPr/>
          <a:lstStyle/>
          <a:p>
            <a:r>
              <a:rPr lang="en-US" dirty="0"/>
              <a:t>	</a:t>
            </a:r>
            <a:r>
              <a:rPr lang="en-US" sz="5400" dirty="0">
                <a:latin typeface="Segoe UI Semibold" panose="020B0702040204020203" pitchFamily="34" charset="0"/>
                <a:cs typeface="Segoe UI Semibold" panose="020B0702040204020203" pitchFamily="34" charset="0"/>
              </a:rPr>
              <a:t>Project Mandate</a:t>
            </a:r>
            <a:endParaRPr lang="en-US" dirty="0"/>
          </a:p>
        </p:txBody>
      </p:sp>
      <p:sp>
        <p:nvSpPr>
          <p:cNvPr id="3" name="Content Placeholder 2">
            <a:extLst>
              <a:ext uri="{FF2B5EF4-FFF2-40B4-BE49-F238E27FC236}">
                <a16:creationId xmlns:a16="http://schemas.microsoft.com/office/drawing/2014/main" id="{DA735E51-572D-119B-F2F3-CAFBBD22205A}"/>
              </a:ext>
            </a:extLst>
          </p:cNvPr>
          <p:cNvSpPr>
            <a:spLocks noGrp="1"/>
          </p:cNvSpPr>
          <p:nvPr>
            <p:ph idx="1"/>
          </p:nvPr>
        </p:nvSpPr>
        <p:spPr>
          <a:xfrm>
            <a:off x="1484310" y="2438399"/>
            <a:ext cx="10252988" cy="3733799"/>
          </a:xfrm>
        </p:spPr>
        <p:txBody>
          <a:bodyPr>
            <a:normAutofit fontScale="92500"/>
          </a:bodyPr>
          <a:lstStyle/>
          <a:p>
            <a:pPr marL="0" indent="0">
              <a:buNone/>
            </a:pPr>
            <a:r>
              <a:rPr lang="en-US" dirty="0"/>
              <a:t>       </a:t>
            </a:r>
            <a:r>
              <a:rPr lang="en-US" dirty="0">
                <a:latin typeface="Segoe UI Semibold" panose="020B0702040204020203" pitchFamily="34" charset="0"/>
                <a:cs typeface="Segoe UI Semibold" panose="020B0702040204020203" pitchFamily="34" charset="0"/>
              </a:rPr>
              <a:t>This project is initiated to improve Temu’s e-commerce platform by addressing issues related to incorrect product deliveries, lack of clear size-selection options, and inefficiencies in the payment system. These challenges have contributed to customer dissatisfaction and increased complaints.</a:t>
            </a:r>
          </a:p>
          <a:p>
            <a:pPr marL="0" indent="0">
              <a:buNone/>
            </a:pPr>
            <a:r>
              <a:rPr lang="en-US" dirty="0">
                <a:latin typeface="Segoe UI Semibold" panose="020B0702040204020203" pitchFamily="34" charset="0"/>
                <a:cs typeface="Segoe UI Semibold" panose="020B0702040204020203" pitchFamily="34" charset="0"/>
              </a:rPr>
              <a:t>       The objective of the project is to enhance order accuracy, improve customer satisfaction, reduce complaints an increase operational efficiency. The project will focus on system improvements that support accurate product selection and reliable payment processing.</a:t>
            </a:r>
          </a:p>
          <a:p>
            <a:pPr marL="0" indent="0">
              <a:buNone/>
            </a:pPr>
            <a:r>
              <a:rPr lang="en-US" dirty="0">
                <a:latin typeface="Segoe UI Semibold" panose="020B0702040204020203" pitchFamily="34" charset="0"/>
                <a:cs typeface="Segoe UI Semibold" panose="020B0702040204020203" pitchFamily="34" charset="0"/>
              </a:rPr>
              <a:t>The project is scheduled to run for 8 weeks with an estimated budget of $50,000.</a:t>
            </a:r>
            <a:endParaRPr lang="en-US" dirty="0"/>
          </a:p>
        </p:txBody>
      </p:sp>
    </p:spTree>
    <p:extLst>
      <p:ext uri="{BB962C8B-B14F-4D97-AF65-F5344CB8AC3E}">
        <p14:creationId xmlns:p14="http://schemas.microsoft.com/office/powerpoint/2010/main" val="3252622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FE4C2-F299-ACE9-7A69-97D4A69CF3A2}"/>
              </a:ext>
            </a:extLst>
          </p:cNvPr>
          <p:cNvSpPr>
            <a:spLocks noGrp="1"/>
          </p:cNvSpPr>
          <p:nvPr>
            <p:ph type="title"/>
          </p:nvPr>
        </p:nvSpPr>
        <p:spPr/>
        <p:txBody>
          <a:bodyPr>
            <a:normAutofit/>
          </a:bodyPr>
          <a:lstStyle/>
          <a:p>
            <a:r>
              <a:rPr lang="en-US" sz="5400" dirty="0">
                <a:latin typeface="Segoe UI Semibold" panose="020B0702040204020203" pitchFamily="34" charset="0"/>
                <a:cs typeface="Segoe UI Semibold" panose="020B0702040204020203" pitchFamily="34" charset="0"/>
              </a:rPr>
              <a:t>Business Problem</a:t>
            </a:r>
          </a:p>
        </p:txBody>
      </p:sp>
      <p:sp>
        <p:nvSpPr>
          <p:cNvPr id="3" name="Content Placeholder 2">
            <a:extLst>
              <a:ext uri="{FF2B5EF4-FFF2-40B4-BE49-F238E27FC236}">
                <a16:creationId xmlns:a16="http://schemas.microsoft.com/office/drawing/2014/main" id="{25320FB7-D96E-26B2-BEC9-5AC2E569B9FC}"/>
              </a:ext>
            </a:extLst>
          </p:cNvPr>
          <p:cNvSpPr>
            <a:spLocks noGrp="1"/>
          </p:cNvSpPr>
          <p:nvPr>
            <p:ph idx="1"/>
          </p:nvPr>
        </p:nvSpPr>
        <p:spPr/>
        <p:txBody>
          <a:bodyPr>
            <a:normAutofit fontScale="85000" lnSpcReduction="10000"/>
          </a:bodyPr>
          <a:lstStyle/>
          <a:p>
            <a:pPr marL="0" indent="0">
              <a:buNone/>
            </a:pPr>
            <a:r>
              <a:rPr lang="en-US" dirty="0">
                <a:latin typeface="Segoe UI Semibold" panose="020B0702040204020203" pitchFamily="34" charset="0"/>
                <a:cs typeface="Segoe UI Semibold" panose="020B0702040204020203" pitchFamily="34" charset="0"/>
              </a:rPr>
              <a:t>       Temu is experiencing a high volume of customer complaints due to customers receiving products in incorrect sizes. This issues creates dissatisfaction and frustration among customer and weakens their overall shopping experience on the platform.</a:t>
            </a:r>
          </a:p>
          <a:p>
            <a:pPr marL="0" indent="0">
              <a:buNone/>
            </a:pPr>
            <a:r>
              <a:rPr lang="en-US" dirty="0">
                <a:latin typeface="Segoe UI Semibold" panose="020B0702040204020203" pitchFamily="34" charset="0"/>
                <a:cs typeface="Segoe UI Semibold" panose="020B0702040204020203" pitchFamily="34" charset="0"/>
              </a:rPr>
              <a:t>       The continued occurrence of incorrect sizing leads to negative customer reviews and a gradual loss of trust in the platform. It also increases the workload of the customer support team, who must handle repeated complaints and inquiries. These challenges reduce operational efficiency and damage Temu’s reputation trust and increased workload for the customer support team. These challenges reduce operational efficiency and damage Temu’s reputation, which may result in decreased customer loyalty and reduced long-term business performance.</a:t>
            </a:r>
          </a:p>
        </p:txBody>
      </p:sp>
    </p:spTree>
    <p:extLst>
      <p:ext uri="{BB962C8B-B14F-4D97-AF65-F5344CB8AC3E}">
        <p14:creationId xmlns:p14="http://schemas.microsoft.com/office/powerpoint/2010/main" val="1960763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B0AB3-B045-3AE3-7D6A-81C86EA1088C}"/>
              </a:ext>
            </a:extLst>
          </p:cNvPr>
          <p:cNvSpPr>
            <a:spLocks noGrp="1"/>
          </p:cNvSpPr>
          <p:nvPr>
            <p:ph type="title"/>
          </p:nvPr>
        </p:nvSpPr>
        <p:spPr/>
        <p:txBody>
          <a:bodyPr>
            <a:normAutofit/>
          </a:bodyPr>
          <a:lstStyle/>
          <a:p>
            <a:r>
              <a:rPr lang="en-US" sz="5400" dirty="0">
                <a:latin typeface="Segoe UI Semibold" panose="020B0702040204020203" pitchFamily="34" charset="0"/>
                <a:cs typeface="Segoe UI Semibold" panose="020B0702040204020203" pitchFamily="34" charset="0"/>
              </a:rPr>
              <a:t>Proposed Solution</a:t>
            </a:r>
          </a:p>
        </p:txBody>
      </p:sp>
      <p:sp>
        <p:nvSpPr>
          <p:cNvPr id="3" name="Content Placeholder 2">
            <a:extLst>
              <a:ext uri="{FF2B5EF4-FFF2-40B4-BE49-F238E27FC236}">
                <a16:creationId xmlns:a16="http://schemas.microsoft.com/office/drawing/2014/main" id="{D7F24403-C995-3A87-E692-5EA3E5837F16}"/>
              </a:ext>
            </a:extLst>
          </p:cNvPr>
          <p:cNvSpPr>
            <a:spLocks noGrp="1"/>
          </p:cNvSpPr>
          <p:nvPr>
            <p:ph idx="1"/>
          </p:nvPr>
        </p:nvSpPr>
        <p:spPr>
          <a:xfrm>
            <a:off x="1484310" y="2666999"/>
            <a:ext cx="10018713" cy="3389027"/>
          </a:xfrm>
        </p:spPr>
        <p:txBody>
          <a:bodyPr>
            <a:normAutofit fontScale="92500" lnSpcReduction="10000"/>
          </a:bodyPr>
          <a:lstStyle/>
          <a:p>
            <a:pPr marL="0" indent="0">
              <a:buNone/>
            </a:pPr>
            <a:r>
              <a:rPr lang="en-US" dirty="0">
                <a:latin typeface="Segoe UI Semibold" panose="020B0702040204020203" pitchFamily="34" charset="0"/>
                <a:cs typeface="Segoe UI Semibold" panose="020B0702040204020203" pitchFamily="34" charset="0"/>
              </a:rPr>
              <a:t>       The proposed solution is to upgrade Temu’s ordering and product management system to improve order accuracy and customer experience. The platform will introduce a clear size-selection feature with proper size guides to help customers choose the correct product size. The system will also include better order verification and an upgraded payment process to support secure and smooth transactions.</a:t>
            </a:r>
          </a:p>
          <a:p>
            <a:pPr marL="0" indent="0">
              <a:buNone/>
            </a:pPr>
            <a:r>
              <a:rPr lang="en-US" dirty="0">
                <a:latin typeface="Segoe UI Semibold" panose="020B0702040204020203" pitchFamily="34" charset="0"/>
                <a:cs typeface="Segoe UI Semibold" panose="020B0702040204020203" pitchFamily="34" charset="0"/>
              </a:rPr>
              <a:t>       These improvements aim to reduce customer complaints, improve accuracy in deliveries, and increase operational efficiency. Overall, the solution is intended provide a more reliable and user-friendly shopping experience.</a:t>
            </a:r>
          </a:p>
        </p:txBody>
      </p:sp>
    </p:spTree>
    <p:extLst>
      <p:ext uri="{BB962C8B-B14F-4D97-AF65-F5344CB8AC3E}">
        <p14:creationId xmlns:p14="http://schemas.microsoft.com/office/powerpoint/2010/main" val="2136758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26D88-136E-38BA-D1B7-22F7434C9145}"/>
              </a:ext>
            </a:extLst>
          </p:cNvPr>
          <p:cNvSpPr>
            <a:spLocks noGrp="1"/>
          </p:cNvSpPr>
          <p:nvPr>
            <p:ph type="title"/>
          </p:nvPr>
        </p:nvSpPr>
        <p:spPr/>
        <p:txBody>
          <a:bodyPr>
            <a:normAutofit/>
          </a:bodyPr>
          <a:lstStyle/>
          <a:p>
            <a:r>
              <a:rPr lang="en-US" sz="5400" dirty="0">
                <a:latin typeface="Segoe UI Semibold" panose="020B0702040204020203" pitchFamily="34" charset="0"/>
                <a:cs typeface="Segoe UI Semibold" panose="020B0702040204020203" pitchFamily="34" charset="0"/>
              </a:rPr>
              <a:t>Stakeholders</a:t>
            </a:r>
          </a:p>
        </p:txBody>
      </p:sp>
      <p:sp>
        <p:nvSpPr>
          <p:cNvPr id="3" name="Content Placeholder 2">
            <a:extLst>
              <a:ext uri="{FF2B5EF4-FFF2-40B4-BE49-F238E27FC236}">
                <a16:creationId xmlns:a16="http://schemas.microsoft.com/office/drawing/2014/main" id="{C9EC1FE8-0C42-B50B-F4DF-217078E5B8D4}"/>
              </a:ext>
            </a:extLst>
          </p:cNvPr>
          <p:cNvSpPr>
            <a:spLocks noGrp="1"/>
          </p:cNvSpPr>
          <p:nvPr>
            <p:ph idx="1"/>
          </p:nvPr>
        </p:nvSpPr>
        <p:spPr>
          <a:xfrm>
            <a:off x="1484310" y="2438399"/>
            <a:ext cx="10018713" cy="3628870"/>
          </a:xfrm>
        </p:spPr>
        <p:txBody>
          <a:bodyPr/>
          <a:lstStyle/>
          <a:p>
            <a:r>
              <a:rPr lang="en-US" dirty="0">
                <a:latin typeface="Segoe UI Semibold" panose="020B0702040204020203" pitchFamily="34" charset="0"/>
                <a:cs typeface="Segoe UI Semibold" panose="020B0702040204020203" pitchFamily="34" charset="0"/>
              </a:rPr>
              <a:t>Customers – users of the platform affected by order accuracy.</a:t>
            </a:r>
          </a:p>
          <a:p>
            <a:r>
              <a:rPr lang="en-US" dirty="0">
                <a:latin typeface="Segoe UI Semibold" panose="020B0702040204020203" pitchFamily="34" charset="0"/>
                <a:cs typeface="Segoe UI Semibold" panose="020B0702040204020203" pitchFamily="34" charset="0"/>
              </a:rPr>
              <a:t>Customer Support Team – handles complaints and inquires.</a:t>
            </a:r>
          </a:p>
          <a:p>
            <a:r>
              <a:rPr lang="en-US" dirty="0">
                <a:latin typeface="Segoe UI Semibold" panose="020B0702040204020203" pitchFamily="34" charset="0"/>
                <a:cs typeface="Segoe UI Semibold" panose="020B0702040204020203" pitchFamily="34" charset="0"/>
              </a:rPr>
              <a:t>IT/ Development Team – responsible for system upgrades.</a:t>
            </a:r>
          </a:p>
          <a:p>
            <a:r>
              <a:rPr lang="en-US" dirty="0">
                <a:latin typeface="Segoe UI Semibold" panose="020B0702040204020203" pitchFamily="34" charset="0"/>
                <a:cs typeface="Segoe UI Semibold" panose="020B0702040204020203" pitchFamily="34" charset="0"/>
              </a:rPr>
              <a:t>Operational Management – oversees delivery and performance.</a:t>
            </a:r>
          </a:p>
        </p:txBody>
      </p:sp>
    </p:spTree>
    <p:extLst>
      <p:ext uri="{BB962C8B-B14F-4D97-AF65-F5344CB8AC3E}">
        <p14:creationId xmlns:p14="http://schemas.microsoft.com/office/powerpoint/2010/main" val="1867499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01F9-F714-B824-812A-5F75D71E63D5}"/>
              </a:ext>
            </a:extLst>
          </p:cNvPr>
          <p:cNvSpPr>
            <a:spLocks noGrp="1"/>
          </p:cNvSpPr>
          <p:nvPr>
            <p:ph type="title"/>
          </p:nvPr>
        </p:nvSpPr>
        <p:spPr/>
        <p:txBody>
          <a:bodyPr>
            <a:normAutofit/>
          </a:bodyPr>
          <a:lstStyle/>
          <a:p>
            <a:r>
              <a:rPr lang="en-US" sz="5400" dirty="0">
                <a:latin typeface="Segoe UI Semibold" panose="020B0702040204020203" pitchFamily="34" charset="0"/>
                <a:cs typeface="Segoe UI Semibold" panose="020B0702040204020203" pitchFamily="34" charset="0"/>
              </a:rPr>
              <a:t>Expected Benefit</a:t>
            </a:r>
          </a:p>
        </p:txBody>
      </p:sp>
      <p:sp>
        <p:nvSpPr>
          <p:cNvPr id="3" name="Content Placeholder 2">
            <a:extLst>
              <a:ext uri="{FF2B5EF4-FFF2-40B4-BE49-F238E27FC236}">
                <a16:creationId xmlns:a16="http://schemas.microsoft.com/office/drawing/2014/main" id="{FC8936BE-0CC4-72AF-8E05-4235D6168EA9}"/>
              </a:ext>
            </a:extLst>
          </p:cNvPr>
          <p:cNvSpPr>
            <a:spLocks noGrp="1"/>
          </p:cNvSpPr>
          <p:nvPr>
            <p:ph idx="1"/>
          </p:nvPr>
        </p:nvSpPr>
        <p:spPr>
          <a:xfrm>
            <a:off x="1484310" y="2666999"/>
            <a:ext cx="10018713" cy="3314076"/>
          </a:xfrm>
        </p:spPr>
        <p:txBody>
          <a:bodyPr/>
          <a:lstStyle/>
          <a:p>
            <a:r>
              <a:rPr lang="en-US" dirty="0">
                <a:latin typeface="Segoe UI Semibold" panose="020B0702040204020203" pitchFamily="34" charset="0"/>
                <a:cs typeface="Segoe UI Semibold" panose="020B0702040204020203" pitchFamily="34" charset="0"/>
              </a:rPr>
              <a:t>Improved customer satisfaction.</a:t>
            </a:r>
          </a:p>
          <a:p>
            <a:r>
              <a:rPr lang="en-US" dirty="0">
                <a:latin typeface="Segoe UI Semibold" panose="020B0702040204020203" pitchFamily="34" charset="0"/>
                <a:cs typeface="Segoe UI Semibold" panose="020B0702040204020203" pitchFamily="34" charset="0"/>
              </a:rPr>
              <a:t>Reduction in customer complaint.</a:t>
            </a:r>
          </a:p>
          <a:p>
            <a:r>
              <a:rPr lang="en-US" dirty="0">
                <a:latin typeface="Segoe UI Semibold" panose="020B0702040204020203" pitchFamily="34" charset="0"/>
                <a:cs typeface="Segoe UI Semibold" panose="020B0702040204020203" pitchFamily="34" charset="0"/>
              </a:rPr>
              <a:t>Increased accuracy in product deliveries.</a:t>
            </a:r>
          </a:p>
          <a:p>
            <a:r>
              <a:rPr lang="en-US" dirty="0">
                <a:latin typeface="Segoe UI Semibold" panose="020B0702040204020203" pitchFamily="34" charset="0"/>
                <a:cs typeface="Segoe UI Semibold" panose="020B0702040204020203" pitchFamily="34" charset="0"/>
              </a:rPr>
              <a:t>Improved operational efficiency.</a:t>
            </a:r>
          </a:p>
          <a:p>
            <a:r>
              <a:rPr lang="en-US" dirty="0">
                <a:latin typeface="Segoe UI Semibold" panose="020B0702040204020203" pitchFamily="34" charset="0"/>
                <a:cs typeface="Segoe UI Semibold" panose="020B0702040204020203" pitchFamily="34" charset="0"/>
              </a:rPr>
              <a:t>Stronger customer trust and loyalty. </a:t>
            </a:r>
          </a:p>
        </p:txBody>
      </p:sp>
    </p:spTree>
    <p:extLst>
      <p:ext uri="{BB962C8B-B14F-4D97-AF65-F5344CB8AC3E}">
        <p14:creationId xmlns:p14="http://schemas.microsoft.com/office/powerpoint/2010/main" val="3892770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187F3-1955-530F-3096-69D6DEE901AD}"/>
              </a:ext>
            </a:extLst>
          </p:cNvPr>
          <p:cNvSpPr>
            <a:spLocks noGrp="1"/>
          </p:cNvSpPr>
          <p:nvPr>
            <p:ph type="title"/>
          </p:nvPr>
        </p:nvSpPr>
        <p:spPr/>
        <p:txBody>
          <a:bodyPr>
            <a:normAutofit/>
          </a:bodyPr>
          <a:lstStyle/>
          <a:p>
            <a:r>
              <a:rPr lang="en-US" sz="5400" dirty="0">
                <a:latin typeface="Segoe UI Semibold" panose="020B0702040204020203" pitchFamily="34" charset="0"/>
                <a:cs typeface="Segoe UI Semibold" panose="020B0702040204020203" pitchFamily="34" charset="0"/>
              </a:rPr>
              <a:t>Timeline and Budget</a:t>
            </a:r>
          </a:p>
        </p:txBody>
      </p:sp>
      <p:sp>
        <p:nvSpPr>
          <p:cNvPr id="3" name="Content Placeholder 2">
            <a:extLst>
              <a:ext uri="{FF2B5EF4-FFF2-40B4-BE49-F238E27FC236}">
                <a16:creationId xmlns:a16="http://schemas.microsoft.com/office/drawing/2014/main" id="{175FA7AE-37DA-2279-D36C-3447DC71419B}"/>
              </a:ext>
            </a:extLst>
          </p:cNvPr>
          <p:cNvSpPr>
            <a:spLocks noGrp="1"/>
          </p:cNvSpPr>
          <p:nvPr>
            <p:ph idx="1"/>
          </p:nvPr>
        </p:nvSpPr>
        <p:spPr>
          <a:xfrm>
            <a:off x="1484310" y="2203555"/>
            <a:ext cx="10018713" cy="2698230"/>
          </a:xfrm>
        </p:spPr>
        <p:txBody>
          <a:bodyPr/>
          <a:lstStyle/>
          <a:p>
            <a:pPr marL="0" indent="0">
              <a:buNone/>
            </a:pPr>
            <a:r>
              <a:rPr lang="en-US" dirty="0"/>
              <a:t>       </a:t>
            </a:r>
            <a:r>
              <a:rPr lang="en-US" dirty="0">
                <a:latin typeface="Segoe UI Semibold" panose="020B0702040204020203" pitchFamily="34" charset="0"/>
                <a:cs typeface="Segoe UI Semibold" panose="020B0702040204020203" pitchFamily="34" charset="0"/>
              </a:rPr>
              <a:t>The project is estimated to run for a period of 8 weeks. An estimated budget of $50,000 has been allocated to support system upgrades, testing, and implementation activities. </a:t>
            </a:r>
            <a:endParaRPr lang="en-US" dirty="0"/>
          </a:p>
        </p:txBody>
      </p:sp>
    </p:spTree>
    <p:extLst>
      <p:ext uri="{BB962C8B-B14F-4D97-AF65-F5344CB8AC3E}">
        <p14:creationId xmlns:p14="http://schemas.microsoft.com/office/powerpoint/2010/main" val="2442592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6B07-BFA6-B05E-B86C-D4226AF3FC89}"/>
              </a:ext>
            </a:extLst>
          </p:cNvPr>
          <p:cNvSpPr>
            <a:spLocks noGrp="1"/>
          </p:cNvSpPr>
          <p:nvPr>
            <p:ph type="title"/>
          </p:nvPr>
        </p:nvSpPr>
        <p:spPr>
          <a:xfrm>
            <a:off x="1484310" y="376004"/>
            <a:ext cx="10018713" cy="1752599"/>
          </a:xfrm>
        </p:spPr>
        <p:txBody>
          <a:bodyPr>
            <a:normAutofit/>
          </a:bodyPr>
          <a:lstStyle/>
          <a:p>
            <a:r>
              <a:rPr lang="en-US" sz="5400" dirty="0">
                <a:latin typeface="Segoe UI Semibold" panose="020B0702040204020203" pitchFamily="34" charset="0"/>
                <a:cs typeface="Segoe UI Semibold" panose="020B0702040204020203" pitchFamily="34" charset="0"/>
              </a:rPr>
              <a:t>Risk and Assumption</a:t>
            </a:r>
          </a:p>
        </p:txBody>
      </p:sp>
      <p:sp>
        <p:nvSpPr>
          <p:cNvPr id="3" name="Content Placeholder 2">
            <a:extLst>
              <a:ext uri="{FF2B5EF4-FFF2-40B4-BE49-F238E27FC236}">
                <a16:creationId xmlns:a16="http://schemas.microsoft.com/office/drawing/2014/main" id="{E67DA93F-E35A-C46E-E74A-93096F6C2982}"/>
              </a:ext>
            </a:extLst>
          </p:cNvPr>
          <p:cNvSpPr>
            <a:spLocks noGrp="1"/>
          </p:cNvSpPr>
          <p:nvPr>
            <p:ph idx="1"/>
          </p:nvPr>
        </p:nvSpPr>
        <p:spPr>
          <a:xfrm>
            <a:off x="1484310" y="2023672"/>
            <a:ext cx="10018713" cy="4287187"/>
          </a:xfrm>
        </p:spPr>
        <p:txBody>
          <a:bodyPr>
            <a:normAutofit fontScale="55000" lnSpcReduction="20000"/>
          </a:bodyPr>
          <a:lstStyle/>
          <a:p>
            <a:pPr marL="0" indent="0">
              <a:buNone/>
            </a:pPr>
            <a:r>
              <a:rPr lang="en-US" dirty="0">
                <a:latin typeface="Segoe UI Semibold" panose="020B0702040204020203" pitchFamily="34" charset="0"/>
                <a:cs typeface="Segoe UI Semibold" panose="020B0702040204020203" pitchFamily="34" charset="0"/>
              </a:rPr>
              <a:t>     </a:t>
            </a:r>
            <a:r>
              <a:rPr lang="en-US" sz="4400" dirty="0">
                <a:latin typeface="Segoe UI Semibold" panose="020B0702040204020203" pitchFamily="34" charset="0"/>
                <a:cs typeface="Segoe UI Semibold" panose="020B0702040204020203" pitchFamily="34" charset="0"/>
              </a:rPr>
              <a:t>Risks:</a:t>
            </a:r>
          </a:p>
          <a:p>
            <a:r>
              <a:rPr lang="en-US" sz="4400" dirty="0">
                <a:latin typeface="Segoe UI Semibold" panose="020B0702040204020203" pitchFamily="34" charset="0"/>
                <a:cs typeface="Segoe UI Semibold" panose="020B0702040204020203" pitchFamily="34" charset="0"/>
              </a:rPr>
              <a:t>Technical challenges during system upgrades.</a:t>
            </a:r>
          </a:p>
          <a:p>
            <a:r>
              <a:rPr lang="en-US" sz="4400" dirty="0">
                <a:latin typeface="Segoe UI Semibold" panose="020B0702040204020203" pitchFamily="34" charset="0"/>
                <a:cs typeface="Segoe UI Semibold" panose="020B0702040204020203" pitchFamily="34" charset="0"/>
              </a:rPr>
              <a:t>Delays in implementation timeline.</a:t>
            </a:r>
          </a:p>
          <a:p>
            <a:r>
              <a:rPr lang="en-US" sz="4400" dirty="0">
                <a:latin typeface="Segoe UI Semibold" panose="020B0702040204020203" pitchFamily="34" charset="0"/>
                <a:cs typeface="Segoe UI Semibold" panose="020B0702040204020203" pitchFamily="34" charset="0"/>
              </a:rPr>
              <a:t>Possible system downtime during deployment.</a:t>
            </a:r>
          </a:p>
          <a:p>
            <a:pPr marL="0" indent="0">
              <a:buNone/>
            </a:pPr>
            <a:endParaRPr lang="en-US" sz="4400" dirty="0">
              <a:latin typeface="Segoe UI Semibold" panose="020B0702040204020203" pitchFamily="34" charset="0"/>
              <a:cs typeface="Segoe UI Semibold" panose="020B0702040204020203" pitchFamily="34" charset="0"/>
            </a:endParaRPr>
          </a:p>
          <a:p>
            <a:pPr marL="0" indent="0">
              <a:buNone/>
            </a:pPr>
            <a:r>
              <a:rPr lang="en-US" sz="4400" dirty="0">
                <a:latin typeface="Segoe UI Semibold" panose="020B0702040204020203" pitchFamily="34" charset="0"/>
                <a:cs typeface="Segoe UI Semibold" panose="020B0702040204020203" pitchFamily="34" charset="0"/>
              </a:rPr>
              <a:t>    Assumptions:</a:t>
            </a:r>
          </a:p>
          <a:p>
            <a:r>
              <a:rPr lang="en-US" sz="4400" dirty="0">
                <a:latin typeface="Segoe UI Semibold" panose="020B0702040204020203" pitchFamily="34" charset="0"/>
                <a:cs typeface="Segoe UI Semibold" panose="020B0702040204020203" pitchFamily="34" charset="0"/>
              </a:rPr>
              <a:t>Adequate budget and resources available.</a:t>
            </a:r>
          </a:p>
          <a:p>
            <a:r>
              <a:rPr lang="en-US" sz="4400" dirty="0">
                <a:latin typeface="Segoe UI Semibold" panose="020B0702040204020203" pitchFamily="34" charset="0"/>
                <a:cs typeface="Segoe UI Semibold" panose="020B0702040204020203" pitchFamily="34" charset="0"/>
              </a:rPr>
              <a:t>Technical teams have the required expertise.</a:t>
            </a:r>
          </a:p>
          <a:p>
            <a:r>
              <a:rPr lang="en-US" sz="4400" dirty="0">
                <a:latin typeface="Segoe UI Semibold" panose="020B0702040204020203" pitchFamily="34" charset="0"/>
                <a:cs typeface="Segoe UI Semibold" panose="020B0702040204020203" pitchFamily="34" charset="0"/>
              </a:rPr>
              <a:t>Users will adapt to improve system</a:t>
            </a:r>
          </a:p>
        </p:txBody>
      </p:sp>
    </p:spTree>
    <p:extLst>
      <p:ext uri="{BB962C8B-B14F-4D97-AF65-F5344CB8AC3E}">
        <p14:creationId xmlns:p14="http://schemas.microsoft.com/office/powerpoint/2010/main" val="3784794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0F22A-BD95-B33B-9AA6-7D8ABC30AA14}"/>
              </a:ext>
            </a:extLst>
          </p:cNvPr>
          <p:cNvSpPr>
            <a:spLocks noGrp="1"/>
          </p:cNvSpPr>
          <p:nvPr>
            <p:ph type="title"/>
          </p:nvPr>
        </p:nvSpPr>
        <p:spPr>
          <a:xfrm>
            <a:off x="1484311" y="685800"/>
            <a:ext cx="10018713" cy="4590738"/>
          </a:xfrm>
        </p:spPr>
        <p:txBody>
          <a:bodyPr>
            <a:normAutofit/>
          </a:bodyPr>
          <a:lstStyle/>
          <a:p>
            <a:r>
              <a:rPr lang="en-US" sz="13800" dirty="0">
                <a:latin typeface="Segoe UI Semibold" panose="020B0702040204020203" pitchFamily="34" charset="0"/>
                <a:cs typeface="Segoe UI Semibold" panose="020B0702040204020203" pitchFamily="34" charset="0"/>
              </a:rPr>
              <a:t>Thank You</a:t>
            </a:r>
          </a:p>
        </p:txBody>
      </p:sp>
    </p:spTree>
    <p:extLst>
      <p:ext uri="{BB962C8B-B14F-4D97-AF65-F5344CB8AC3E}">
        <p14:creationId xmlns:p14="http://schemas.microsoft.com/office/powerpoint/2010/main" val="39038166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109</TotalTime>
  <Words>502</Words>
  <Application>Microsoft Office PowerPoint</Application>
  <PresentationFormat>Widescreen</PresentationFormat>
  <Paragraphs>45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Corbel</vt:lpstr>
      <vt:lpstr>Segoe UI Semibold</vt:lpstr>
      <vt:lpstr>Parallax</vt:lpstr>
      <vt:lpstr>BUSINESS CASE</vt:lpstr>
      <vt:lpstr>TABLE OF CONTENTS</vt:lpstr>
      <vt:lpstr> Project Mandate</vt:lpstr>
      <vt:lpstr>Business Problem</vt:lpstr>
      <vt:lpstr>Proposed Solution</vt:lpstr>
      <vt:lpstr>Stakeholders</vt:lpstr>
      <vt:lpstr>Expected Benefit</vt:lpstr>
      <vt:lpstr>Timeline and Budget</vt:lpstr>
      <vt:lpstr>Risk and Assumption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Chisom Favour Chukwudolue</dc:creator>
  <cp:lastModifiedBy>Chisom Favour Chukwudolue</cp:lastModifiedBy>
  <cp:revision>3</cp:revision>
  <dcterms:created xsi:type="dcterms:W3CDTF">2026-02-18T08:14:12Z</dcterms:created>
  <dcterms:modified xsi:type="dcterms:W3CDTF">2026-02-19T02:11:59Z</dcterms:modified>
</cp:coreProperties>
</file>